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72" r:id="rId20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Relationship Id="rId8" Type="http://schemas.openxmlformats.org/officeDocument/2006/relationships/image" Target="../media/image6.jpg"/><Relationship Id="rId9" Type="http://schemas.openxmlformats.org/officeDocument/2006/relationships/image" Target="../media/image13.jpg"/><Relationship Id="rId10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tejasnafde/canon" TargetMode="External"/><Relationship Id="rId6" Type="http://schemas.openxmlformats.org/officeDocument/2006/relationships/hyperlink" Target="https://canon-tn07.web.app" TargetMode="External"/><Relationship Id="rId7" Type="http://schemas.openxmlformats.org/officeDocument/2006/relationships/hyperlink" Target="https://canon.tn07.dev" TargetMode="External"/><Relationship Id="rId8" Type="http://schemas.openxmlformats.org/officeDocument/2006/relationships/hyperlink" Target="https://canon-ezvux7gqxa-el.a.run.app/health" TargetMode="External"/><Relationship Id="rId9" Type="http://schemas.openxmlformats.org/officeDocument/2006/relationships/hyperlink" Target="https://discord.gg/HwSgjmcgF5" TargetMode="External"/><Relationship Id="rId10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Localhost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Tejas Nafde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800" b="1">
                <a:solidFill>
                  <a:srgbClr val="1C1A17"/>
                </a:solidFill>
                <a:latin typeface="Google Sans Flex"/>
              </a:rPr>
              <a:t>Future of Work &amp; Enterprise Productivity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731520"/>
            <a:ext cx="1280160" cy="329997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32004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Canon is the shared memory of a company, for its people and its AI agents.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Teams decide things in Slack threads, meetings and pull requests, then forget. Wiki pages go out of date. New hires and coding agents act on old rules.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Canon keeps one record of decisions: rationale, owner, date, authority, and a quote checked word for word against its source.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It checks every new message, document and agent action against that record, and warns when one is about to break a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Coding agents connect over MCP and call check_intent before they act. A Friday deploy job is blocked, with the incident review as evidence.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Live on a public Discord server: post a message, and Canon replies within a minute.</a:t>
            </a:r>
          </a:p>
        </p:txBody>
      </p:sp>
      <p:pic>
        <p:nvPicPr>
          <p:cNvPr id="74" name="Picture 73" descr="agent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38017"/>
            <a:ext cx="4251960" cy="239324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75" name="TextBox 74"/>
          <p:cNvSpPr txBox="1"/>
          <p:nvPr/>
        </p:nvSpPr>
        <p:spPr>
          <a:xfrm>
            <a:off x="4572000" y="4031263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canon.tn07.dev: an AI agent gets stopped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32004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is it different?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2004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Meeting-memory tools summarise. Decision logs store. Spec checkers review code.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Canon does all three on one record, and knows who may change a rule: official, proposed or claim, from the org tree.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Its users include AI agents, not only people.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20040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How it solves the problem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0040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Extracts decisions with verified quotes from chats, meetings, wiki, PRs, PDFs, screenshots and voice recordings.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Reconciles each one: same, update or contradiction, ordered by effective date.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Flags out-of-date documents and broken premises, and sends unverified claims to the right lead.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Answers why with citations, or says I do not know.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080760" y="1188720"/>
            <a:ext cx="2743200" cy="411480"/>
          </a:xfrm>
          <a:prstGeom prst="rect">
            <a:avLst/>
          </a:prstGeom>
          <a:solidFill>
            <a:srgbClr val="1C1A1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Google Sans Flex"/>
              </a:rPr>
              <a:t>USP: agent-native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80760" y="1691640"/>
            <a:ext cx="274320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An MCP server any agent can call: check_intent returns allow, warn or block with the deciding decision.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Every agent read, write and check is recorded for people to see.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Also an ADK agent over A2A, and a Discord bot.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Ingest anything: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Slack, meetings, wiki, PRs, commits, email, paste, PDFs, screenshots, audio and video (Gemini reads them; 10 min audio, 2 min video, 30 min a day).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Decision extraction: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statement, rationale, assumptions, owner, date, quotes verified word for word.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Reconciliation: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same, update (supersedes) or contradiction, ordered by effective date. Older copies marked outdated.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Authority: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official, proposed or claim from the org tree. Unverified claims go to the right lead. Jokes are ignored.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Drift alerts: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out-of-date documents and broken premises, both quotes side by side.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Ask why: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cited answer and timeline; refuses when the record is silent.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I am new here: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five things you must know, a page not to trust, people to ask.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Catch me up: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14 roles, a summary and a ranked to-do list with reasons.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Agent guard over MCP: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check_intent gives allow, warn or block. Six tools for Claude Code and Codex. ADK agent over A2A.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Discord, live: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synced every minute (threads, files, PDFs, screenshots, voice notes); replies under the message; /canon ask, check, catchup, remember.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People and org: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who owns what, who left, who took over.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Measured: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gold-set benchmark and a memory-health replay, served in the app.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1C1A17"/>
                </a:solidFill>
                <a:latin typeface="Google Sans Flex"/>
              </a:rPr>
              <a:t>Cost controls: </a:t>
            </a:r>
            <a:r>
              <a:rPr sz="1050" b="0">
                <a:solidFill>
                  <a:srgbClr val="1C1A17"/>
                </a:solidFill>
                <a:latin typeface="Google Sans Flex"/>
              </a:rPr>
              <a:t>daily Gemini cap, Discord caps, scale to zero.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20040" y="11430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A. A new source arrives (web paste, Discord, PR, agent, PDF)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2004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Source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text, PDF or image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64792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Chunk + embed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gemini-embedding-001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09544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Extract decisions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Gemini, structured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654296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Verify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exact substring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099048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Authority + reconcile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same / update / contra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543800" y="148132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Drift scan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old docs, premises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581912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3026664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471416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5916168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7360920" y="182422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2057400" y="2532888"/>
            <a:ext cx="3931920" cy="548640"/>
          </a:xfrm>
          <a:prstGeom prst="roundRect">
            <a:avLst/>
          </a:prstGeom>
          <a:solidFill>
            <a:srgbClr val="FBF4F1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Firestore record: decisions, alerts, activity, people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search, workspace prefilter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4023360" y="2167128"/>
            <a:ext cx="2706624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 109"/>
          <p:cNvCxnSpPr/>
          <p:nvPr/>
        </p:nvCxnSpPr>
        <p:spPr>
          <a:xfrm flipH="1">
            <a:off x="4023360" y="2167128"/>
            <a:ext cx="4151376" cy="36576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320040" y="43891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B. A person or an agent asks or acts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2004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Question, briefing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or intended action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1764792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Embed query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nearest decisions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9544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Below threshold?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refuse / allow, no LLM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654296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Gemini judges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answer or verdict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099048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Cite verified quotes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allow / warn / block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543800" y="3630168"/>
            <a:ext cx="1261872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Recorded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web, MCP, A2A, Discord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1581912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3026664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4471416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916168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7360920" y="3973068"/>
            <a:ext cx="182880" cy="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 flipH="1">
            <a:off x="2395728" y="3081528"/>
            <a:ext cx="0" cy="5486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20040" y="4800600"/>
            <a:ext cx="85039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5F5A52"/>
                </a:solidFill>
                <a:latin typeface="Google Sans Flex"/>
              </a:rPr>
              <a:t>Early wireframes: the approved mocks the web app was built from. The live app (current numbers) is on the Snapshots slide.</a:t>
            </a:r>
          </a:p>
        </p:txBody>
      </p:sp>
      <p:pic>
        <p:nvPicPr>
          <p:cNvPr id="105" name="Picture 104" descr="ho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8720"/>
            <a:ext cx="5120640" cy="32004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6" name="TextBox 105"/>
          <p:cNvSpPr txBox="1"/>
          <p:nvPr/>
        </p:nvSpPr>
        <p:spPr>
          <a:xfrm>
            <a:off x="320040" y="4389120"/>
            <a:ext cx="5120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stories and live counts</a:t>
            </a:r>
          </a:p>
        </p:txBody>
      </p:sp>
      <p:pic>
        <p:nvPicPr>
          <p:cNvPr id="107" name="Picture 106" descr="new-hi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6752" y="118872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08" name="TextBox 107"/>
          <p:cNvSpPr txBox="1"/>
          <p:nvPr/>
        </p:nvSpPr>
        <p:spPr>
          <a:xfrm>
            <a:off x="5623560" y="269748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</a:t>
            </a:r>
          </a:p>
        </p:txBody>
      </p:sp>
      <p:pic>
        <p:nvPicPr>
          <p:cNvPr id="109" name="Picture 108" descr="ag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2971800"/>
            <a:ext cx="2414016" cy="150876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10" name="TextBox 109"/>
          <p:cNvSpPr txBox="1"/>
          <p:nvPr/>
        </p:nvSpPr>
        <p:spPr>
          <a:xfrm>
            <a:off x="5623560" y="4480560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For agents: the block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Web app (React)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Firebase 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05740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Claude Code, Codex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MCP clients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320040" y="292608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Other agents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A2A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20040" y="3794760"/>
            <a:ext cx="1737360" cy="6858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server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Cloud Scheduler, 1 min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651760" y="1143000"/>
            <a:ext cx="3108960" cy="3703320"/>
          </a:xfrm>
          <a:prstGeom prst="rect">
            <a:avLst/>
          </a:prstGeom>
          <a:solidFill>
            <a:srgbClr val="FBF4F1"/>
          </a:solidFill>
          <a:ln>
            <a:solidFill>
              <a:srgbClr val="C83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651760" y="1161288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C8361E"/>
                </a:solidFill>
                <a:latin typeface="Google Sans Flex"/>
              </a:rPr>
              <a:t>Cloud Run: canon, asia-south1, min 0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834640" y="1508760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FastAPI /api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834640" y="2075688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MCP /mcp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834640" y="2642616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ADK agent /a2a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834640" y="3209544"/>
            <a:ext cx="118872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Discord sync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43400" y="1508760"/>
            <a:ext cx="1234440" cy="2157984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1">
                <a:solidFill>
                  <a:srgbClr val="1C1A17"/>
                </a:solidFill>
                <a:latin typeface="Google Sans Flex"/>
              </a:rPr>
              <a:t>Core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ingest, authority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reconcile, ask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briefing, check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2057400" y="1531620"/>
            <a:ext cx="777240" cy="205740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 flipV="1">
            <a:off x="2057400" y="2304288"/>
            <a:ext cx="777240" cy="9601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 flipV="1">
            <a:off x="2057400" y="2871216"/>
            <a:ext cx="777240" cy="3977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 flipV="1">
            <a:off x="2057400" y="3438144"/>
            <a:ext cx="777240" cy="699516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4023360" y="1737360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4023360" y="2304288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V="1">
            <a:off x="4023360" y="2587752"/>
            <a:ext cx="320040" cy="283464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V="1">
            <a:off x="4023360" y="2587752"/>
            <a:ext cx="320040" cy="85039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/>
          <p:cNvSpPr/>
          <p:nvPr/>
        </p:nvSpPr>
        <p:spPr>
          <a:xfrm>
            <a:off x="2834640" y="3886200"/>
            <a:ext cx="27432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000" b="0">
                <a:solidFill>
                  <a:srgbClr val="1C1A17"/>
                </a:solidFill>
                <a:latin typeface="Google Sans Flex"/>
              </a:rPr>
              <a:t>Guardrails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verified quotes, refusal threshold, source fencing,</a:t>
            </a:r>
          </a:p>
          <a:p>
            <a:pPr algn="ctr"/>
            <a:r>
              <a:rPr sz="800" b="0">
                <a:solidFill>
                  <a:srgbClr val="5F5A52"/>
                </a:solidFill>
                <a:latin typeface="Google Sans Flex"/>
              </a:rPr>
              <a:t>input limits, timeouts, daily Gemini cap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309360" y="118872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Vertex AI Gemini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gemini-3.5-flash-lite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structured output, PDFs, images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309360" y="237744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Embeddings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gemini-embedding-001, 768 dims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309360" y="3566160"/>
            <a:ext cx="2514600" cy="914400"/>
          </a:xfrm>
          <a:prstGeom prst="roundRect">
            <a:avLst/>
          </a:prstGeom>
          <a:solidFill>
            <a:srgbClr val="F6F1E7"/>
          </a:solidFill>
          <a:ln>
            <a:solidFill>
              <a:srgbClr val="D8C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100" b="0">
                <a:solidFill>
                  <a:srgbClr val="1C1A17"/>
                </a:solidFill>
                <a:latin typeface="Google Sans Flex"/>
              </a:rPr>
              <a:t>Firestore (database canon)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vector search (cosine)</a:t>
            </a:r>
          </a:p>
          <a:p>
            <a:pPr algn="ctr"/>
            <a:r>
              <a:rPr sz="900" b="0">
                <a:solidFill>
                  <a:srgbClr val="5F5A52"/>
                </a:solidFill>
                <a:latin typeface="Google Sans Flex"/>
              </a:rPr>
              <a:t>workspace prefilter</a:t>
            </a:r>
          </a:p>
        </p:txBody>
      </p:sp>
      <p:cxnSp>
        <p:nvCxnSpPr>
          <p:cNvPr id="135" name="Connector 134"/>
          <p:cNvCxnSpPr/>
          <p:nvPr/>
        </p:nvCxnSpPr>
        <p:spPr>
          <a:xfrm flipV="1">
            <a:off x="5577840" y="1645920"/>
            <a:ext cx="731520" cy="941832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5577840" y="2587752"/>
            <a:ext cx="731520" cy="24688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5577840" y="2587752"/>
            <a:ext cx="731520" cy="1435608"/>
          </a:xfrm>
          <a:prstGeom prst="line">
            <a:avLst/>
          </a:prstGeom>
          <a:ln w="15875">
            <a:solidFill>
              <a:srgbClr val="5F5A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19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293"/>
                <a:gridCol w="5697626"/>
              </a:tblGrid>
              <a:tr h="32004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Technology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What Canon uses it for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 3.5 Flash-Lite on Vertex AI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Extraction, reconciliation, drift checks, answers, briefings, verdicts; structured output; reads PDFs and images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gemini-embedding-001 (768 dims)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Embeddings for source chunks, decisions and queries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Firestore, named database canon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Sources, chunks, decisions, alerts, activity, people; vector search with a workspace prefilter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Run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scale-to-zero service: API, MCP server, A2A agent, Discord sync and slash commands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Firebase Hosting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Static web app; rewrites /api, /mcp, /a2a, /hooks, /discord to Cloud Run on one origin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Cloud Scheduler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Calls the Discord sync every minute, so no always-on gateway is needed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Secret Manager, Cloud Monitoring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One secret for every Canon credential; alert policies relayed to Discord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ADK + A2A, MCP (FastMCP)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Canon as an LlmAgent with four tools; six MCP tools over streamable HTTP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Python 3.12, FastAPI, uv, pytest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Backend; 85 tests replay recorded Gemini fixtures, no network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React, TypeScript, Vite, Tailwind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Editorial web app: stories, catch-up, agents, paste, ask, decisions, people, benchmark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Idle cost is near zero.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Cloud Run scales to zero (min instances 0). No per-hour resource.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Firestore: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demo data fits inside the free tier.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Gemini is paid per call.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An answer is one embedding and one Flash-Lite call. A check is one call, or none when no decision is relevant. An ingest is one extraction plus a few reconcile calls.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Refusals and irrelevant checks never reach Gemini.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The similarity threshold stops them first.</a:t>
            </a:r>
          </a:p>
          <a:p>
            <a:pPr>
              <a:spcAft>
                <a:spcPts val="7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Tracked, not guessed: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Gemini calls, Cloud Run, Artifact Registry and Hosting carry the label app=canon, so the billing export splits Canon's spend.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What we measured: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Reading the whole 380-source archive (a full seed) costs about INR 80 to 100 in Gemini calls.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Live checks and answers: one call each, about 1 to 2 seconds.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Hard caps: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Daily Gemini cap per instance (1500 generate calls by default).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Discord: 200 messages a day, 20 per user; slash commands stop at the cap.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C1A17"/>
                </a:solidFill>
                <a:latin typeface="Google Sans Flex"/>
              </a:rPr>
              <a:t>- 120 POST requests per minute per IP.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Not measured yet: </a:t>
            </a:r>
            <a:r>
              <a:rPr sz="1100" b="0">
                <a:solidFill>
                  <a:srgbClr val="1C1A17"/>
                </a:solidFill>
                <a:latin typeface="Google Sans Flex"/>
              </a:rPr>
              <a:t>tokens per call at scale, so we do not quote a per-user price.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home-108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Home: four stories and live counts</a:t>
            </a:r>
          </a:p>
        </p:txBody>
      </p:sp>
      <p:pic>
        <p:nvPicPr>
          <p:cNvPr id="138" name="Picture 137" descr="new-hire-108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9544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3209544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I am new here: out-of-date page, who to ask</a:t>
            </a:r>
          </a:p>
        </p:txBody>
      </p:sp>
      <p:pic>
        <p:nvPicPr>
          <p:cNvPr id="140" name="Picture 139" descr="catch-up-sales-108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9048" y="1189948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6099048" y="2724912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Catch me up: sales, ranked to-do list</a:t>
            </a:r>
          </a:p>
        </p:txBody>
      </p:sp>
      <p:pic>
        <p:nvPicPr>
          <p:cNvPr id="142" name="Picture 141" descr="agent-108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320040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An AI agent gets stopped: Block</a:t>
            </a:r>
          </a:p>
        </p:txBody>
      </p:sp>
      <p:pic>
        <p:nvPicPr>
          <p:cNvPr id="144" name="Picture 143" descr="ask-108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9544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5" name="TextBox 144"/>
          <p:cNvSpPr txBox="1"/>
          <p:nvPr/>
        </p:nvSpPr>
        <p:spPr>
          <a:xfrm>
            <a:off x="3209544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Ask why: cited answer and timeline</a:t>
            </a:r>
          </a:p>
        </p:txBody>
      </p:sp>
      <p:pic>
        <p:nvPicPr>
          <p:cNvPr id="146" name="Picture 145" descr="org-10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9048" y="3055324"/>
            <a:ext cx="2724912" cy="1533736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7" name="TextBox 146"/>
          <p:cNvSpPr txBox="1"/>
          <p:nvPr/>
        </p:nvSpPr>
        <p:spPr>
          <a:xfrm>
            <a:off x="6099048" y="4590288"/>
            <a:ext cx="272491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People: org tree, who left, successors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Table 143"/>
          <p:cNvGraphicFramePr>
            <a:graphicFrameLocks noGrp="1"/>
          </p:cNvGraphicFramePr>
          <p:nvPr/>
        </p:nvGraphicFramePr>
        <p:xfrm>
          <a:off x="320040" y="1188720"/>
          <a:ext cx="4754878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244"/>
                <a:gridCol w="618134"/>
                <a:gridCol w="1378915"/>
                <a:gridCol w="570585"/>
              </a:tblGrid>
              <a:tr h="31089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Task (labelled gold set)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Planted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Found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Google Sans Flex"/>
                        </a:rPr>
                        <a:t>Score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extracted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Contradictions and updates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False positive alerts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Out-of-date documents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95%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check_intent verdicts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37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32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86%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Unanswerable, refused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100%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Latency p50 / p95 (ask, check)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>1221 / 1795 ms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1A17"/>
                          </a:solidFill>
                          <a:latin typeface="Google Sans Flex"/>
                        </a:rPr>
                        <a:t/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379476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Run 2026-10-17 19:10 UTC, model gemini-3.5-flash-lite, dataset acme4: 380 synthetic sources (about 100 pure noise), 14 roles. check_intent re-measured 2026-10-18.</a:t>
            </a:r>
          </a:p>
          <a:p>
            <a:pPr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Reproduce: backend/scripts/seed.py, then eval.py. The app serves the report at /api/eval.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303520" y="1188720"/>
            <a:ext cx="3520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C1A17"/>
                </a:solidFill>
                <a:latin typeface="Google Sans Flex"/>
              </a:rPr>
              <a:t>Memory health: replay in time order</a:t>
            </a:r>
          </a:p>
        </p:txBody>
      </p:sp>
      <p:graphicFrame>
        <p:nvGraphicFramePr>
          <p:cNvPr id="147" name="Table 146"/>
          <p:cNvGraphicFramePr>
            <a:graphicFrameLocks noGrp="1"/>
          </p:cNvGraphicFramePr>
          <p:nvPr/>
        </p:nvGraphicFramePr>
        <p:xfrm>
          <a:off x="5303520" y="1508760"/>
          <a:ext cx="35204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1056132"/>
              </a:tblGrid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Check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Google Sans Flex"/>
                        </a:rPr>
                        <a:t>Result</a:t>
                      </a:r>
                    </a:p>
                  </a:txBody>
                  <a:tcPr marT="27432" marB="27432" anchor="ctr">
                    <a:solidFill>
                      <a:srgbClr val="1C1A1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Decisions with no traceable source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 of 10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Duplicate decisions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Quarter checkpoints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3 of 3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Supersession chains correct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 of 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Authority cases correct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1C1A17"/>
                          </a:solidFill>
                          <a:latin typeface="Google Sans Flex"/>
                        </a:rPr>
                        <a:t>12 of 12</a:t>
                      </a:r>
                    </a:p>
                  </a:txBody>
                  <a:tcPr marT="27432" marB="27432" anchor="ctr">
                    <a:solidFill>
                      <a:srgbClr val="F6F1E7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147"/>
          <p:cNvSpPr txBox="1"/>
          <p:nvPr/>
        </p:nvSpPr>
        <p:spPr>
          <a:xfrm>
            <a:off x="5303520" y="3291840"/>
            <a:ext cx="352044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900" b="1">
                <a:solidFill>
                  <a:srgbClr val="1C1A17"/>
                </a:solidFill>
                <a:latin typeface="Google Sans Flex"/>
              </a:rPr>
              <a:t>In the open: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premise changes found 2/5, our weakest part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updates 19/20, contradictions 16/19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answerable questions 21/21 cited an expected decision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- 579 stored quotes, all verified word for word</a:t>
            </a:r>
          </a:p>
          <a:p>
            <a:pPr>
              <a:spcAft>
                <a:spcPts val="200"/>
              </a:spcAft>
            </a:pPr>
            <a:r>
              <a:rPr sz="900" b="0">
                <a:solidFill>
                  <a:srgbClr val="1C1A17"/>
                </a:solidFill>
                <a:latin typeface="Google Sans Flex"/>
              </a:rPr>
              <a:t>- check misses lean to caution (warn)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20040" y="1188720"/>
            <a:ext cx="41605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Where people already talk: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Slack and Microsoft Teams next to the live Discord connector, answering in place.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Permissions: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sign-in, per-team visibility, and decisions that follow the access rules of their source.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Code review at scale: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check PR diffs against the record and post review comments for every repo.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709160" y="1188720"/>
            <a:ext cx="411480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Beyond software: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manufacturing SOP drift. A line change or a supplier note that contradicts the approved procedure raises an alert before a shift runs it.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Better recall: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premise watch finds 2 of 5 today; we will tune it against the gold set.</a:t>
            </a:r>
          </a:p>
          <a:p>
            <a:pPr>
              <a:spcAft>
                <a:spcPts val="900"/>
              </a:spcAft>
            </a:pPr>
            <a:r>
              <a:rPr sz="1200" b="1">
                <a:solidFill>
                  <a:srgbClr val="1C1A17"/>
                </a:solidFill>
                <a:latin typeface="Google Sans Flex"/>
              </a:rPr>
              <a:t>Real data: </a:t>
            </a:r>
            <a:r>
              <a:rPr sz="1200" b="0">
                <a:solidFill>
                  <a:srgbClr val="1C1A17"/>
                </a:solidFill>
                <a:latin typeface="Google Sans Flex"/>
              </a:rPr>
              <a:t>this repository's own README, PRs and commits next to the synthetic corpus.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20040" y="1188720"/>
            <a:ext cx="8503920" cy="3703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GitHub public repository: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5"/>
              </a:rPr>
              <a:t>https://github.com/tejasnafde/canon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Demo video: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(add the video link)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Final product link: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6"/>
              </a:rPr>
              <a:t>https://canon-tn07.web.app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Same app, custom domain: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7"/>
              </a:rPr>
              <a:t>https://canon.tn07.dev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Cloud Run: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8"/>
              </a:rPr>
              <a:t>https://canon-ezvux7gqxa-el.a.run.app/health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Live Discord demo: </a:t>
            </a:r>
            <a:r>
              <a:rPr sz="1400" b="0">
                <a:solidFill>
                  <a:srgbClr val="1C1A17"/>
                </a:solidFill>
                <a:latin typeface="Google Sans Flex"/>
                <a:hlinkClick r:id="rId9"/>
              </a:rPr>
              <a:t>https://discord.gg/HwSgjmcgF5</a:t>
            </a:r>
          </a:p>
          <a:p>
            <a:pPr>
              <a:spcAft>
                <a:spcPts val="1000"/>
              </a:spcAft>
            </a:pPr>
            <a:r>
              <a:rPr sz="1400" b="1">
                <a:solidFill>
                  <a:srgbClr val="1C1A17"/>
                </a:solidFill>
                <a:latin typeface="Google Sans Flex"/>
              </a:rPr>
              <a:t>Connect your agent: </a:t>
            </a:r>
            <a:r>
              <a:rPr sz="1400" b="0">
                <a:solidFill>
                  <a:srgbClr val="1C1A17"/>
                </a:solidFill>
                <a:latin typeface="Google Sans Flex"/>
              </a:rPr>
              <a:t>claude mcp add --transport http canon https://canon.tn07.dev/mcp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1A17"/>
                </a:solidFill>
                <a:latin typeface="Google Sans Flex"/>
              </a:rPr>
              <a:t>No login needed. All company data is synthetic and labelled as such.</a:t>
            </a:r>
          </a:p>
        </p:txBody>
      </p:sp>
      <p:pic>
        <p:nvPicPr>
          <p:cNvPr id="161" name="Picture 160" descr="locku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4297680"/>
            <a:ext cx="1828800" cy="471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Live in Discord: Canon learns from a real server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0-rep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201207"/>
            <a:ext cx="4160520" cy="1575225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2788920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A real post at 21:14; Canon replied in about a minute. Join: discord.gg/HwSgjmcgF5</a:t>
            </a:r>
          </a:p>
        </p:txBody>
      </p:sp>
      <p:pic>
        <p:nvPicPr>
          <p:cNvPr id="138" name="Picture 137" descr="1-gen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6068" y="1188720"/>
            <a:ext cx="3275263" cy="16002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39" name="TextBox 138"/>
          <p:cNvSpPr txBox="1"/>
          <p:nvPr/>
        </p:nvSpPr>
        <p:spPr>
          <a:xfrm>
            <a:off x="4663440" y="2788920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Threads in #general, posted as the people who wrote them</a:t>
            </a:r>
          </a:p>
        </p:txBody>
      </p:sp>
      <p:pic>
        <p:nvPicPr>
          <p:cNvPr id="140" name="Picture 139" descr="2-enginee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176" y="3200400"/>
            <a:ext cx="3304247" cy="16002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1" name="TextBox 140"/>
          <p:cNvSpPr txBox="1"/>
          <p:nvPr/>
        </p:nvSpPr>
        <p:spPr>
          <a:xfrm>
            <a:off x="320040" y="4800600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#engineering: the stale Friday release window, as a screenshot</a:t>
            </a:r>
          </a:p>
        </p:txBody>
      </p:sp>
      <p:pic>
        <p:nvPicPr>
          <p:cNvPr id="142" name="Picture 141" descr="3-sale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1773" y="3200400"/>
            <a:ext cx="2803854" cy="1600200"/>
          </a:xfrm>
          <a:prstGeom prst="rect">
            <a:avLst/>
          </a:prstGeom>
          <a:ln w="9525">
            <a:solidFill>
              <a:srgbClr val="D8CFBE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800600"/>
            <a:ext cx="4160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F5A52"/>
                </a:solidFill>
                <a:latin typeface="Google Sans Flex"/>
              </a:rPr>
              <a:t>#sales: the old USD 99 pricing page and the sales FAQ file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
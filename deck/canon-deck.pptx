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jpg"/><Relationship Id="rId6" Type="http://schemas.openxmlformats.org/officeDocument/2006/relationships/image" Target="../media/image8.jpg"/><Relationship Id="rId7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0.jpg"/><Relationship Id="rId6" Type="http://schemas.openxmlformats.org/officeDocument/2006/relationships/image" Target="../media/image11.jpg"/><Relationship Id="rId7" Type="http://schemas.openxmlformats.org/officeDocument/2006/relationships/image" Target="../media/image12.jpg"/><Relationship Id="rId8" Type="http://schemas.openxmlformats.org/officeDocument/2006/relationships/image" Target="../media/image6.jpg"/><Relationship Id="rId9" Type="http://schemas.openxmlformats.org/officeDocument/2006/relationships/image" Target="../media/image13.jpg"/><Relationship Id="rId10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800" b="1">
                <a:solidFill>
                  <a:srgbClr val="1C1A17"/>
                </a:solidFill>
                <a:latin typeface="Google Sans Flex"/>
              </a:rPr>
              <a:t>Localhost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800" b="1">
                <a:solidFill>
                  <a:srgbClr val="1C1A17"/>
                </a:solidFill>
                <a:latin typeface="Google Sans Flex"/>
              </a:rPr>
              <a:t>Tejas Nafde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sz="1800" b="1">
                <a:solidFill>
                  <a:srgbClr val="1C1A17"/>
                </a:solidFill>
                <a:latin typeface="Google Sans Flex"/>
              </a:rPr>
              <a:t>Future of Work &amp; Enterprise Productivity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72" name="Picture 71" descr="lock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731520"/>
            <a:ext cx="1280160" cy="32999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320040" y="1188720"/>
            <a:ext cx="411480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Canon is the shared memory of a company, for its people and its AI agents.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Teams decide things in Slack threads, meetings and pull requests, then forget. Wiki pages go out of date. New hires and coding agents act on old rules.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Canon keeps one record of decisions: rationale, owner, date, authority, and a quote checked word for word against its source.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It checks every new message, document and agent action against that record, and warns when one is about to break a decision.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Coding agents connect over MCP and call check_intent before they act. A Friday deploy job is blocked, with the incident review as evidence.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Live on a public Discord server: post a message, and Canon replies within a minute.</a:t>
            </a:r>
          </a:p>
        </p:txBody>
      </p:sp>
      <p:pic>
        <p:nvPicPr>
          <p:cNvPr id="74" name="Picture 73" descr="agent-108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638017"/>
            <a:ext cx="4251960" cy="239324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75" name="TextBox 74"/>
          <p:cNvSpPr txBox="1"/>
          <p:nvPr/>
        </p:nvSpPr>
        <p:spPr>
          <a:xfrm>
            <a:off x="4572000" y="4031263"/>
            <a:ext cx="42519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canon.tn07.dev: an AI agent gets stopped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320040" y="1188720"/>
            <a:ext cx="2743200" cy="411480"/>
          </a:xfrm>
          <a:prstGeom prst="rect">
            <a:avLst/>
          </a:prstGeom>
          <a:solidFill>
            <a:srgbClr val="1C1A1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Google Sans Flex"/>
              </a:rPr>
              <a:t>How is it different?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20040" y="1691640"/>
            <a:ext cx="274320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Meeting-memory tools summarise. Decision logs store. Spec checkers review code.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Canon does all three on one record, and knows who may change a rule: official, proposed or claim, from the org tree.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Its users include AI agents, not only people.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200400" y="1188720"/>
            <a:ext cx="2743200" cy="411480"/>
          </a:xfrm>
          <a:prstGeom prst="rect">
            <a:avLst/>
          </a:prstGeom>
          <a:solidFill>
            <a:srgbClr val="1C1A1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Google Sans Flex"/>
              </a:rPr>
              <a:t>How it solves the problem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00400" y="1691640"/>
            <a:ext cx="274320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Extracts decisions with verified quotes from chats, meetings, wiki, PRs, PDFs, screenshots and voice recordings.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Reconciles each one: same, update or contradiction, ordered by effective date.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Flags out-of-date documents and broken premises, and sends unverified claims to the right lead.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Answers why with citations, or says I do not know.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080760" y="1188720"/>
            <a:ext cx="2743200" cy="411480"/>
          </a:xfrm>
          <a:prstGeom prst="rect">
            <a:avLst/>
          </a:prstGeom>
          <a:solidFill>
            <a:srgbClr val="1C1A1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Google Sans Flex"/>
              </a:rPr>
              <a:t>USP: agent-native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80760" y="1691640"/>
            <a:ext cx="274320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An MCP server any agent can call: check_intent returns allow, warn or block with the deciding decision.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Every agent read, write and check is recorded for people to see.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Also an ADK agent over A2A, and a Discord bot.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320040" y="1188720"/>
            <a:ext cx="41605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Ingest anything: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Slack, meetings, wiki, PRs, commits, email, paste, PDFs, screenshots, audio and video (Gemini reads them; 10 min audio, 2 min video, 30 min a day).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Decision extraction: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statement, rationale, assumptions, owner, date, quotes verified word for word.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Reconciliation: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same, update (supersedes) or contradiction, ordered by effective date. Older copies marked outdated.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Authority: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official, proposed or claim from the org tree. Unverified claims go to the right lead. Jokes are ignored.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Drift alerts: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out-of-date documents and broken premises, both quotes side by side.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Ask why: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cited answer and timeline; refuses when the record is silent.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63440" y="1188720"/>
            <a:ext cx="41605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I am new here: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five things you must know, a page not to trust, people to ask.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Catch me up: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14 roles, a summary and a ranked to-do list with reasons.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Agent guard over MCP: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check_intent gives allow, warn or block. Six tools for Claude Code and Codex. ADK agent over A2A.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Discord, live: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synced every minute (threads, files, PDFs, screenshots, voice notes); replies under the message; /canon ask, check, catchup, remember.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People and org: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who owns what, who left, who took over.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Measured: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gold-set benchmark and a memory-health replay, served in the app.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Cost controls: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daily Gemini cap, Discord caps, scale to zero.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20040" y="11430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A. A new source arrives (web paste, Discord, PR, agent, PDF)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20040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Source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text, PDF or image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764792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Chunk + embed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gemini-embedding-001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209544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Extract decisions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Gemini, structured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654296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Verify quotes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exact substring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099048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Authority + reconcile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same / update / contra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7543800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Drift scan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old docs, premises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1581912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026664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4471416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5916168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7360920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2057400" y="2532888"/>
            <a:ext cx="3931920" cy="548640"/>
          </a:xfrm>
          <a:prstGeom prst="roundRect">
            <a:avLst/>
          </a:prstGeom>
          <a:solidFill>
            <a:srgbClr val="FBF4F1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>
                <a:solidFill>
                  <a:srgbClr val="1C1A17"/>
                </a:solidFill>
                <a:latin typeface="Google Sans Flex"/>
              </a:rPr>
              <a:t>Firestore record: decisions, alerts, activity, people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vector search, workspace prefilter</a:t>
            </a:r>
          </a:p>
        </p:txBody>
      </p:sp>
      <p:cxnSp>
        <p:nvCxnSpPr>
          <p:cNvPr id="109" name="Connector 108"/>
          <p:cNvCxnSpPr/>
          <p:nvPr/>
        </p:nvCxnSpPr>
        <p:spPr>
          <a:xfrm flipH="1">
            <a:off x="4023360" y="2167128"/>
            <a:ext cx="2706624" cy="36576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320040" y="43891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B. A person or an agent asks or acts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20040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Question, briefing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or intended action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764792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Embed query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nearest decisions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209544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Below threshold?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refuse / allow, no LLM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654296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Gemini judges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answer or verdict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099048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Cite verified quotes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allow / warn / block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7543800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Recorded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web, MCP, A2A, Discord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1581912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3026664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4471416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5916168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7360920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H="1">
            <a:off x="2395728" y="3081528"/>
            <a:ext cx="0" cy="54864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hom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188720"/>
            <a:ext cx="5120640" cy="3200400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05" name="TextBox 104"/>
          <p:cNvSpPr txBox="1"/>
          <p:nvPr/>
        </p:nvSpPr>
        <p:spPr>
          <a:xfrm>
            <a:off x="320040" y="4389120"/>
            <a:ext cx="5120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Home: stories and live counts</a:t>
            </a:r>
          </a:p>
        </p:txBody>
      </p:sp>
      <p:pic>
        <p:nvPicPr>
          <p:cNvPr id="106" name="Picture 105" descr="new-hi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6752" y="1188720"/>
            <a:ext cx="2414016" cy="1508760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07" name="TextBox 106"/>
          <p:cNvSpPr txBox="1"/>
          <p:nvPr/>
        </p:nvSpPr>
        <p:spPr>
          <a:xfrm>
            <a:off x="5623560" y="2697480"/>
            <a:ext cx="3200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I am new here</a:t>
            </a:r>
          </a:p>
        </p:txBody>
      </p:sp>
      <p:pic>
        <p:nvPicPr>
          <p:cNvPr id="108" name="Picture 107" descr="agen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6752" y="2971800"/>
            <a:ext cx="2414016" cy="1508760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09" name="TextBox 108"/>
          <p:cNvSpPr txBox="1"/>
          <p:nvPr/>
        </p:nvSpPr>
        <p:spPr>
          <a:xfrm>
            <a:off x="5623560" y="4480560"/>
            <a:ext cx="3200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For agents: the block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737360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Web app (React)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Firebase Hosting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20040" y="2057400"/>
            <a:ext cx="1737360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Claude Code, Codex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MCP clients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2926080"/>
            <a:ext cx="1737360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Other agents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A2A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20040" y="3794760"/>
            <a:ext cx="1737360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Discord server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Cloud Scheduler, 1 min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651760" y="1143000"/>
            <a:ext cx="3108960" cy="3703320"/>
          </a:xfrm>
          <a:prstGeom prst="rect">
            <a:avLst/>
          </a:prstGeom>
          <a:solidFill>
            <a:srgbClr val="FBF4F1"/>
          </a:solidFill>
          <a:ln>
            <a:solidFill>
              <a:srgbClr val="C83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651760" y="1161288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C8361E"/>
                </a:solidFill>
                <a:latin typeface="Google Sans Flex"/>
              </a:rPr>
              <a:t>Cloud Run: canon, asia-south1, min 0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834640" y="1508760"/>
            <a:ext cx="11887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FastAPI /api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834640" y="2075688"/>
            <a:ext cx="11887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MCP /mcp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834640" y="2642616"/>
            <a:ext cx="11887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ADK agent /a2a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834640" y="3209544"/>
            <a:ext cx="11887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Discord sync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343400" y="1508760"/>
            <a:ext cx="1234440" cy="2157984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>
                <a:solidFill>
                  <a:srgbClr val="1C1A17"/>
                </a:solidFill>
                <a:latin typeface="Google Sans Flex"/>
              </a:rPr>
              <a:t>Core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ingest, authority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reconcile, ask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briefing, check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2057400" y="1531620"/>
            <a:ext cx="777240" cy="20574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2057400" y="2304288"/>
            <a:ext cx="777240" cy="96012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057400" y="2871216"/>
            <a:ext cx="777240" cy="397764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2057400" y="3438144"/>
            <a:ext cx="777240" cy="699516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4023360" y="1737360"/>
            <a:ext cx="320040" cy="850392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4023360" y="2304288"/>
            <a:ext cx="320040" cy="283464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4023360" y="2587752"/>
            <a:ext cx="320040" cy="283464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4023360" y="2587752"/>
            <a:ext cx="320040" cy="850392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ounded Rectangle 130"/>
          <p:cNvSpPr/>
          <p:nvPr/>
        </p:nvSpPr>
        <p:spPr>
          <a:xfrm>
            <a:off x="2834640" y="3886200"/>
            <a:ext cx="274320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Guardrails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verified quotes, refusal threshold, source fencing,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input limits, timeouts, daily Gemini cap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309360" y="1188720"/>
            <a:ext cx="2514600" cy="9144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1C1A17"/>
                </a:solidFill>
                <a:latin typeface="Google Sans Flex"/>
              </a:rPr>
              <a:t>Vertex AI Gemini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gemini-3.5-flash-lite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structured output, PDFs, images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309360" y="2377440"/>
            <a:ext cx="2514600" cy="9144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1C1A17"/>
                </a:solidFill>
                <a:latin typeface="Google Sans Flex"/>
              </a:rPr>
              <a:t>Embeddings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gemini-embedding-001, 768 dims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309360" y="3566160"/>
            <a:ext cx="2514600" cy="9144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1C1A17"/>
                </a:solidFill>
                <a:latin typeface="Google Sans Flex"/>
              </a:rPr>
              <a:t>Firestore (database canon)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vector search (cosine)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workspace prefilter</a:t>
            </a:r>
          </a:p>
        </p:txBody>
      </p:sp>
      <p:cxnSp>
        <p:nvCxnSpPr>
          <p:cNvPr id="135" name="Connector 134"/>
          <p:cNvCxnSpPr/>
          <p:nvPr/>
        </p:nvCxnSpPr>
        <p:spPr>
          <a:xfrm flipV="1">
            <a:off x="5577840" y="1645920"/>
            <a:ext cx="731520" cy="941832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5577840" y="2587752"/>
            <a:ext cx="731520" cy="246888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5577840" y="2587752"/>
            <a:ext cx="731520" cy="1435608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88720"/>
          <a:ext cx="8503919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6293"/>
                <a:gridCol w="5697626"/>
              </a:tblGrid>
              <a:tr h="32004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oogle Sans Flex"/>
                        </a:rPr>
                        <a:t>Technology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oogle Sans Flex"/>
                        </a:rPr>
                        <a:t>What Canon uses it for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Gemini 3.5 Flash-Lite on Vertex AI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Extraction, reconciliation, drift checks, answers, briefings, verdicts; structured output; reads PDFs and images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gemini-embedding-001 (768 dims)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Embeddings for source chunks, decisions and queries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Cloud Firestore, named database canon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Sources, chunks, decisions, alerts, activity, people; vector search with a workspace prefilter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Cloud Run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One scale-to-zero service: API, MCP server, A2A agent, Discord sync and slash commands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Firebase Hosting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Static web app; rewrites /api, /mcp, /a2a, /hooks, /discord to Cloud Run on one origin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Cloud Scheduler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Calls the Discord sync every minute, so no always-on gateway is needed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Secret Manager, Cloud Monitoring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One secret for every Canon credential; alert policies relayed to Discord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ADK + A2A, MCP (FastMCP)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Canon as an LlmAgent with four tools; six MCP tools over streamable HTTP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Python 3.12, FastAPI, uv, pytest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Backend; 85 tests replay recorded Gemini fixtures, no network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React, TypeScript, Vite, Tailwind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Editorial web app: stories, catch-up, agents, paste, ask, decisions, people, benchmark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320040" y="1188720"/>
            <a:ext cx="41605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Idle cost is near zero.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Cloud Run scales to zero (min instances 0). No per-hour resource.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Firestore: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the demo data fits inside the free tier.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Gemini is paid per call.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An answer is one embedding and one Flash-Lite call. A check is one call, or none when no decision is relevant. An ingest is one extraction plus a few reconcile calls.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Refusals and irrelevant checks never reach Gemini.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The similarity threshold stops them first.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Tracked, not guessed: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Gemini calls, Cloud Run, Artifact Registry and Hosting carry the label app=canon, so the billing export splits Canon's spend.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709160" y="1188720"/>
            <a:ext cx="411480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What we measured: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Reading the whole 380-source archive (a full seed) costs about INR 80 to 100 in Gemini calls.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Live checks and answers: one call each, about 1 to 2 seconds.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Hard caps: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Daily Gemini cap per instance (1500 generate calls by default).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Discord: 200 messages a day, 20 per user; slash commands stop at the cap.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- 120 POST requests per minute per IP.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Not measured yet: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tokens per call at scale, so we do not quote a per-user price.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home-108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189948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2724912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Home: four stories and live counts</a:t>
            </a:r>
          </a:p>
        </p:txBody>
      </p:sp>
      <p:pic>
        <p:nvPicPr>
          <p:cNvPr id="138" name="Picture 137" descr="new-hire-108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9544" y="1189948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3209544" y="2724912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I am new here: out-of-date page, who to ask</a:t>
            </a:r>
          </a:p>
        </p:txBody>
      </p:sp>
      <p:pic>
        <p:nvPicPr>
          <p:cNvPr id="140" name="Picture 139" descr="catch-up-sales-108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9048" y="1189948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6099048" y="2724912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Catch me up: sales, ranked to-do list</a:t>
            </a:r>
          </a:p>
        </p:txBody>
      </p:sp>
      <p:pic>
        <p:nvPicPr>
          <p:cNvPr id="142" name="Picture 141" descr="agent-108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3055324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320040" y="4590288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An AI agent gets stopped: Block</a:t>
            </a:r>
          </a:p>
        </p:txBody>
      </p:sp>
      <p:pic>
        <p:nvPicPr>
          <p:cNvPr id="144" name="Picture 143" descr="ask-108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09544" y="3055324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3209544" y="4590288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Ask why: cited answer and timeline</a:t>
            </a:r>
          </a:p>
        </p:txBody>
      </p:sp>
      <p:pic>
        <p:nvPicPr>
          <p:cNvPr id="146" name="Picture 145" descr="org-108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9048" y="3055324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7" name="TextBox 146"/>
          <p:cNvSpPr txBox="1"/>
          <p:nvPr/>
        </p:nvSpPr>
        <p:spPr>
          <a:xfrm>
            <a:off x="6099048" y="4590288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People: org tree, who left, successors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320040" y="1188720"/>
          <a:ext cx="4754879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2537"/>
                <a:gridCol w="713232"/>
                <a:gridCol w="950976"/>
                <a:gridCol w="618134"/>
              </a:tblGrid>
              <a:tr h="31089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Google Sans Flex"/>
                        </a:rPr>
                        <a:t>Task (labelled gold set)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Google Sans Flex"/>
                        </a:rPr>
                        <a:t>Planted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Google Sans Flex"/>
                        </a:rPr>
                        <a:t>Found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Google Sans Flex"/>
                        </a:rPr>
                        <a:t>Score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Decisions extracted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82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82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100%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Contradictions and updates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39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35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90%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False positive alerts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Out-of-date documents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95%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check_intent verdicts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37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32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86%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Unanswerable, refused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100%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Latency p50 / p95 (ask, check)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1221 / 1795 ms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</a:tbl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320040" y="3794760"/>
            <a:ext cx="47548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Run 2026-10-17 19:10 UTC, model gemini-3.5-flash-lite, dataset acme4: 380 synthetic sources (about 100 pure noise), 14 roles. check_intent re-measured 2026-10-18.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Reproduce: backend/scripts/seed.py, then eval.py. The app serves the report at /api/eval.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303520" y="1188720"/>
            <a:ext cx="3520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Memory health: replay in time order</a:t>
            </a:r>
          </a:p>
        </p:txBody>
      </p:sp>
      <p:graphicFrame>
        <p:nvGraphicFramePr>
          <p:cNvPr id="147" name="Table 146"/>
          <p:cNvGraphicFramePr>
            <a:graphicFrameLocks noGrp="1"/>
          </p:cNvGraphicFramePr>
          <p:nvPr/>
        </p:nvGraphicFramePr>
        <p:xfrm>
          <a:off x="5303520" y="1508760"/>
          <a:ext cx="35204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308"/>
                <a:gridCol w="1056132"/>
              </a:tblGrid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oogle Sans Flex"/>
                        </a:rPr>
                        <a:t>Check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oogle Sans Flex"/>
                        </a:rPr>
                        <a:t>Result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Decisions with no traceable source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0 of 10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Duplicate decisions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Quarter checkpoints correct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3 of 3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Supersession chains correct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1 of 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Authority cases correct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12 of 12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</a:tbl>
          </a:graphicData>
        </a:graphic>
      </p:graphicFrame>
      <p:sp>
        <p:nvSpPr>
          <p:cNvPr id="148" name="TextBox 147"/>
          <p:cNvSpPr txBox="1"/>
          <p:nvPr/>
        </p:nvSpPr>
        <p:spPr>
          <a:xfrm>
            <a:off x="5303520" y="3291840"/>
            <a:ext cx="352044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900" b="1">
                <a:solidFill>
                  <a:srgbClr val="1C1A17"/>
                </a:solidFill>
                <a:latin typeface="Google Sans Flex"/>
              </a:rPr>
              <a:t>In the open: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premise changes found 2/5, our weakest part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updates 19/20, contradictions 16/19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answerable questions 21/21 cited an expected decision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- 579 stored quotes, all verified word for word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check misses lean to caution (warn)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320040" y="1188720"/>
            <a:ext cx="41605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Where people already talk: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Slack and Microsoft Teams next to the live Discord connector, answering in place.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Permissions: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sign-in, per-team visibility, and decisions that follow the access rules of their source.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Code review at scale: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check PR diffs against the record and post review comments for every repo.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709160" y="1188720"/>
            <a:ext cx="411480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Beyond software: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manufacturing SOP drift. A line change or a supplier note that contradicts the approved procedure raises an alert before a shift runs it.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Better recall: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premise watch finds 2 of 5 today; we will tune it against the gold set.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Real data: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this repository's own README, PRs and commits next to the synthetic corpus.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320040" y="1188720"/>
            <a:ext cx="85039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GitHub public repository: </a:t>
            </a:r>
            <a:r>
              <a:rPr sz="1400" b="0">
                <a:solidFill>
                  <a:srgbClr val="1C1A17"/>
                </a:solidFill>
                <a:latin typeface="Google Sans Flex"/>
              </a:rPr>
              <a:t>https://github.com/tejasnafde/canon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Demo video: </a:t>
            </a:r>
            <a:r>
              <a:rPr sz="1400" b="0">
                <a:solidFill>
                  <a:srgbClr val="1C1A17"/>
                </a:solidFill>
                <a:latin typeface="Google Sans Flex"/>
              </a:rPr>
              <a:t>(add the video link)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Final product link: </a:t>
            </a:r>
            <a:r>
              <a:rPr sz="1400" b="0">
                <a:solidFill>
                  <a:srgbClr val="1C1A17"/>
                </a:solidFill>
                <a:latin typeface="Google Sans Flex"/>
              </a:rPr>
              <a:t>https://canon-tn07.web.app  (also https://canon.tn07.dev)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Cloud Run: </a:t>
            </a:r>
            <a:r>
              <a:rPr sz="1400" b="0">
                <a:solidFill>
                  <a:srgbClr val="1C1A17"/>
                </a:solidFill>
                <a:latin typeface="Google Sans Flex"/>
              </a:rPr>
              <a:t>https://canon-ezvux7gqxa-el.a.run.app/health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Live Discord demo: </a:t>
            </a:r>
            <a:r>
              <a:rPr sz="1400" b="0">
                <a:solidFill>
                  <a:srgbClr val="1C1A17"/>
                </a:solidFill>
                <a:latin typeface="Google Sans Flex"/>
              </a:rPr>
              <a:t>https://discord.gg/HwSgjmcgF5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Connect your agent: </a:t>
            </a:r>
            <a:r>
              <a:rPr sz="1400" b="0">
                <a:solidFill>
                  <a:srgbClr val="1C1A17"/>
                </a:solidFill>
                <a:latin typeface="Google Sans Flex"/>
              </a:rPr>
              <a:t>claude mcp add --transport http canon https://canon.tn07.dev/mcp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C1A17"/>
                </a:solidFill>
                <a:latin typeface="Google Sans Flex"/>
              </a:rPr>
              <a:t>No login needed. All company data is synthetic and labelled as such.</a:t>
            </a:r>
          </a:p>
        </p:txBody>
      </p:sp>
      <p:pic>
        <p:nvPicPr>
          <p:cNvPr id="161" name="Picture 160" descr="locku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4297680"/>
            <a:ext cx="1828800" cy="47142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
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1" Type="http://schemas.openxmlformats.org/officeDocument/2006/relationships/slide" Target="slides/slide16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</a:t>
            </a:r>
            <a:r>
              <a:rPr sz="1800" b="1">
                <a:solidFill>
                  <a:srgbClr val="202124"/>
                </a:solidFill>
                <a:latin typeface="Google Sans Flex"/>
              </a:rPr>
              <a:t>Canon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</a:t>
            </a:r>
            <a:r>
              <a:rPr sz="1800" b="1">
                <a:solidFill>
                  <a:srgbClr val="202124"/>
                </a:solidFill>
                <a:latin typeface="Google Sans Flex"/>
              </a:rPr>
              <a:t>Tejas Nafde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</a:t>
            </a:r>
            <a:r>
              <a:rPr sz="1800" b="1">
                <a:solidFill>
                  <a:srgbClr val="202124"/>
                </a:solidFill>
                <a:latin typeface="Google Sans Flex"/>
              </a:rPr>
              <a:t>Future of Work &amp; Enterprise Productivity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20040" y="1188720"/>
            <a:ext cx="4114800" cy="3703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02124"/>
                </a:solidFill>
                <a:latin typeface="Google Sans Flex"/>
              </a:rPr>
              <a:t>Canon is the shared memory of a company, for its people and for its AI agents.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02124"/>
                </a:solidFill>
                <a:latin typeface="Google Sans Flex"/>
              </a:rPr>
              <a:t>Teams decide things in Slack threads, meetings, PRs and email. The wiki goes stale. New hires and AI agents act on old information.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02124"/>
                </a:solidFill>
                <a:latin typeface="Google Sans Flex"/>
              </a:rPr>
              <a:t>Canon keeps one record of decisions. Each decision has a rationale, an owner, a date and a quote checked word for word against its source.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02124"/>
                </a:solidFill>
                <a:latin typeface="Google Sans Flex"/>
              </a:rPr>
              <a:t>Every new message, document and agent action is checked against that record. Canon flags drift: a contradiction, a stale wiki page, a broken premise.</a:t>
            </a:r>
          </a:p>
          <a:p>
            <a:pPr>
              <a:spcAft>
                <a:spcPts val="700"/>
              </a:spcAft>
            </a:pPr>
            <a:r>
              <a:rPr sz="1200" b="0">
                <a:solidFill>
                  <a:srgbClr val="202124"/>
                </a:solidFill>
                <a:latin typeface="Google Sans Flex"/>
              </a:rPr>
              <a:t>Coding agents connect over MCP and call check_intent before they act. A Friday cron deploy is blocked, with the incident review as evidence.</a:t>
            </a:r>
          </a:p>
        </p:txBody>
      </p:sp>
      <p:pic>
        <p:nvPicPr>
          <p:cNvPr id="73" name="Picture 72" descr="home-block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11642"/>
            <a:ext cx="4251960" cy="2657475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320040" y="1188720"/>
            <a:ext cx="2743200" cy="411480"/>
          </a:xfrm>
          <a:prstGeom prst="rect">
            <a:avLst/>
          </a:prstGeom>
          <a:solidFill>
            <a:srgbClr val="20212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Google Sans Flex"/>
              </a:rPr>
              <a:t>How is it different?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0040" y="1691640"/>
            <a:ext cx="274320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- Meeting-memory tools (Mnemo style) summarise. Decision logs (Decision Ledger style) store. Spec checkers (Spec Keeper style) review code.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- Canon does all three on one record, and its first-class users include AI agents, not only people.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0" y="1188720"/>
            <a:ext cx="2743200" cy="411480"/>
          </a:xfrm>
          <a:prstGeom prst="rect">
            <a:avLst/>
          </a:prstGeom>
          <a:solidFill>
            <a:srgbClr val="20212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Google Sans Flex"/>
              </a:rPr>
              <a:t>How does it solve the problem?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0400" y="1691640"/>
            <a:ext cx="274320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- Extracts decisions with verified quotes from any source.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- Reconciles each one: same, update or contradiction.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- Raises alerts on stale docs and broken premises.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- Answers why, with citations, or says I do not know.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080760" y="1188720"/>
            <a:ext cx="2743200" cy="411480"/>
          </a:xfrm>
          <a:prstGeom prst="rect">
            <a:avLst/>
          </a:prstGeom>
          <a:solidFill>
            <a:srgbClr val="20212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Google Sans Flex"/>
              </a:rPr>
              <a:t>USP: agent-native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80760" y="1691640"/>
            <a:ext cx="2743200" cy="3108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- An MCP server any agent can call: check_intent returns allow, warn or block with the deciding decision.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- Every agent read, write and check shows in a live feed.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- Also an ADK agent over A2A.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20040" y="1188720"/>
            <a:ext cx="4160520" cy="3703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Ingest any source: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Slack, meeting, wiki, PR, commit, email, free paste, image or PDF.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Decision extraction: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statement, rationale, assumptions, owner, date, verified quotes.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Reconciliation: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same, update (supersedes) or contradiction.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Drift alerts: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stale wiki pages and premise changes, both quotes side by side.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Ask why: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cited answer and decision timeline; refuses when the record is silent.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Catch me up: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engineer, PM or new-hire briefing with ranked next actions (score 0 to 100 with reasons) and who to ask.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63440" y="1188720"/>
            <a:ext cx="4160520" cy="3703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Agent guard: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check_intent gives allow, warn or block with the deciding decisions.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MCP server: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six tools over streamable HTTP for Claude Code and Codex.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Live agent activity feed and an agent playground in the browser.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Ask the departed expert: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answers in a former colleague's voice, from their quotes only.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Human in the loop: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alerts stay open until a person resolves them.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Integrations: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A2A agent card, GitHub PR webhook, Discord slash command.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Benchmark: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planted problems vs found, on a labelled gold 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20040" y="114300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A. A new source arrives (web paste, Slack, PR, agent)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20040" y="1481328"/>
            <a:ext cx="1261872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Source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text or image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764792" y="1481328"/>
            <a:ext cx="1261872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Chunk + embed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gemini-embedding-001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3209544" y="1481328"/>
            <a:ext cx="1261872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Extract decisions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Gemini, structured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654296" y="1481328"/>
            <a:ext cx="1261872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Verify quotes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exact substring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6099048" y="1481328"/>
            <a:ext cx="1261872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Reconcile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same / update / contra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543800" y="1481328"/>
            <a:ext cx="1261872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Drift scan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stale docs, premises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1581912" y="1824228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3026664" y="1824228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471416" y="1824228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916168" y="1824228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7360920" y="1824228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2057400" y="2532888"/>
            <a:ext cx="3931920" cy="548640"/>
          </a:xfrm>
          <a:prstGeom prst="roundRect">
            <a:avLst/>
          </a:prstGeom>
          <a:solidFill>
            <a:srgbClr val="E8F0FE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202124"/>
                </a:solidFill>
                <a:latin typeface="Google Sans Flex"/>
              </a:rPr>
              <a:t>Firestore record: decisions, alerts, activity</a:t>
            </a:r>
          </a:p>
          <a:p>
            <a:pPr algn="ctr"/>
            <a:r>
              <a:rPr sz="900" b="0">
                <a:solidFill>
                  <a:srgbClr val="5F6368"/>
                </a:solidFill>
                <a:latin typeface="Google Sans Flex"/>
              </a:rPr>
              <a:t>vector search, workspace prefilter</a:t>
            </a:r>
          </a:p>
        </p:txBody>
      </p:sp>
      <p:cxnSp>
        <p:nvCxnSpPr>
          <p:cNvPr id="109" name="Connector 108"/>
          <p:cNvCxnSpPr/>
          <p:nvPr/>
        </p:nvCxnSpPr>
        <p:spPr>
          <a:xfrm flipH="1">
            <a:off x="4023360" y="2167128"/>
            <a:ext cx="2706624" cy="36576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320040" y="438912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B. A person or an agent asks or acts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20040" y="3630168"/>
            <a:ext cx="1261872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Question, briefing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or intended action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764792" y="3630168"/>
            <a:ext cx="1261872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Embed query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nearest decisions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209544" y="3630168"/>
            <a:ext cx="1261872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Below threshold?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refuse / allow, no LLM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4654296" y="3630168"/>
            <a:ext cx="1261872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Gemini judges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answer or verdict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099048" y="3630168"/>
            <a:ext cx="1261872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Cite verified quotes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allow / warn / block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7543800" y="3630168"/>
            <a:ext cx="1261872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Activity feed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web, MCP, A2A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1581912" y="3973068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026664" y="3973068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4471416" y="3973068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916168" y="3973068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360920" y="3973068"/>
            <a:ext cx="18288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H="1">
            <a:off x="2395728" y="3081528"/>
            <a:ext cx="0" cy="54864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 / mock diagrams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hom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188720"/>
            <a:ext cx="5120640" cy="320040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5" name="TextBox 104"/>
          <p:cNvSpPr txBox="1"/>
          <p:nvPr/>
        </p:nvSpPr>
        <p:spPr>
          <a:xfrm>
            <a:off x="320040" y="4389120"/>
            <a:ext cx="5120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Home: briefing, alerts, agent feed</a:t>
            </a:r>
          </a:p>
        </p:txBody>
      </p:sp>
      <p:pic>
        <p:nvPicPr>
          <p:cNvPr id="106" name="Picture 105" descr="inges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1188720"/>
            <a:ext cx="2414016" cy="150876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7" name="TextBox 106"/>
          <p:cNvSpPr txBox="1"/>
          <p:nvPr/>
        </p:nvSpPr>
        <p:spPr>
          <a:xfrm>
            <a:off x="5623560" y="269748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Ingest: paste and reconcile</a:t>
            </a:r>
          </a:p>
        </p:txBody>
      </p:sp>
      <p:pic>
        <p:nvPicPr>
          <p:cNvPr id="108" name="Picture 107" descr="agents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52" y="2971800"/>
            <a:ext cx="2414016" cy="1508760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09" name="TextBox 108"/>
          <p:cNvSpPr txBox="1"/>
          <p:nvPr/>
        </p:nvSpPr>
        <p:spPr>
          <a:xfrm>
            <a:off x="5623560" y="4480560"/>
            <a:ext cx="3200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Agents: MCP playground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20040" y="1188720"/>
            <a:ext cx="1737360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Web app (React)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Firebase Hosting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20040" y="2057400"/>
            <a:ext cx="1737360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Claude Code, Codex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MCP clients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20040" y="2926080"/>
            <a:ext cx="1737360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Other agents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A2A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320040" y="3794760"/>
            <a:ext cx="1737360" cy="6858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GitHub, Discord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webhooks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651760" y="1143000"/>
            <a:ext cx="3108960" cy="3703320"/>
          </a:xfrm>
          <a:prstGeom prst="rect">
            <a:avLst/>
          </a:prstGeom>
          <a:solidFill>
            <a:srgbClr val="E8F0FE"/>
          </a:solidFill>
          <a:ln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651760" y="116128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1A73E8"/>
                </a:solidFill>
                <a:latin typeface="Google Sans Flex"/>
              </a:rPr>
              <a:t>Cloud Run service canon (asia-south1, min 0)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834640" y="1508760"/>
            <a:ext cx="11887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FastAPI /api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834640" y="2075688"/>
            <a:ext cx="11887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MCP /mcp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2834640" y="2642616"/>
            <a:ext cx="11887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ADK agent /a2a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2834640" y="3209544"/>
            <a:ext cx="118872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Hooks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4343400" y="1508760"/>
            <a:ext cx="1234440" cy="2157984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1">
                <a:solidFill>
                  <a:srgbClr val="202124"/>
                </a:solidFill>
                <a:latin typeface="Google Sans Flex"/>
              </a:rPr>
              <a:t>Core</a:t>
            </a:r>
          </a:p>
          <a:p>
            <a:pPr algn="ctr"/>
            <a:r>
              <a:rPr sz="900" b="0">
                <a:solidFill>
                  <a:srgbClr val="5F6368"/>
                </a:solidFill>
                <a:latin typeface="Google Sans Flex"/>
              </a:rPr>
              <a:t>ingest, reconcile</a:t>
            </a:r>
          </a:p>
          <a:p>
            <a:pPr algn="ctr"/>
            <a:r>
              <a:rPr sz="900" b="0">
                <a:solidFill>
                  <a:srgbClr val="5F6368"/>
                </a:solidFill>
                <a:latin typeface="Google Sans Flex"/>
              </a:rPr>
              <a:t>ask, briefing</a:t>
            </a:r>
          </a:p>
          <a:p>
            <a:pPr algn="ctr"/>
            <a:r>
              <a:rPr sz="900" b="0">
                <a:solidFill>
                  <a:srgbClr val="5F6368"/>
                </a:solidFill>
                <a:latin typeface="Google Sans Flex"/>
              </a:rPr>
              <a:t>check, expert</a:t>
            </a:r>
          </a:p>
        </p:txBody>
      </p:sp>
      <p:cxnSp>
        <p:nvCxnSpPr>
          <p:cNvPr id="123" name="Connector 122"/>
          <p:cNvCxnSpPr/>
          <p:nvPr/>
        </p:nvCxnSpPr>
        <p:spPr>
          <a:xfrm>
            <a:off x="2057400" y="1531620"/>
            <a:ext cx="777240" cy="205740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2057400" y="2304288"/>
            <a:ext cx="777240" cy="96012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2057400" y="2871216"/>
            <a:ext cx="777240" cy="397764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2057400" y="3438144"/>
            <a:ext cx="777240" cy="699516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023360" y="1737360"/>
            <a:ext cx="320040" cy="850392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023360" y="2304288"/>
            <a:ext cx="320040" cy="283464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4023360" y="2587752"/>
            <a:ext cx="320040" cy="283464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4023360" y="2587752"/>
            <a:ext cx="320040" cy="850392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ounded Rectangle 130"/>
          <p:cNvSpPr/>
          <p:nvPr/>
        </p:nvSpPr>
        <p:spPr>
          <a:xfrm>
            <a:off x="2834640" y="3886200"/>
            <a:ext cx="27432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202124"/>
                </a:solidFill>
                <a:latin typeface="Google Sans Flex"/>
              </a:rPr>
              <a:t>Guardrails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verified quotes, refusal threshold,</a:t>
            </a:r>
          </a:p>
          <a:p>
            <a:pPr algn="ctr"/>
            <a:r>
              <a:rPr sz="800" b="0">
                <a:solidFill>
                  <a:srgbClr val="5F6368"/>
                </a:solidFill>
                <a:latin typeface="Google Sans Flex"/>
              </a:rPr>
              <a:t>source fencing, input limits, timeouts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309360" y="1188720"/>
            <a:ext cx="2514600" cy="9144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02124"/>
                </a:solidFill>
                <a:latin typeface="Google Sans Flex"/>
              </a:rPr>
              <a:t>Vertex AI Gemini</a:t>
            </a:r>
          </a:p>
          <a:p>
            <a:pPr algn="ctr"/>
            <a:r>
              <a:rPr sz="900" b="0">
                <a:solidFill>
                  <a:srgbClr val="5F6368"/>
                </a:solidFill>
                <a:latin typeface="Google Sans Flex"/>
              </a:rPr>
              <a:t>gemini-3.5-flash-lite</a:t>
            </a:r>
          </a:p>
          <a:p>
            <a:pPr algn="ctr"/>
            <a:r>
              <a:rPr sz="900" b="0">
                <a:solidFill>
                  <a:srgbClr val="5F6368"/>
                </a:solidFill>
                <a:latin typeface="Google Sans Flex"/>
              </a:rPr>
              <a:t>structured output, label app=canon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6309360" y="2377440"/>
            <a:ext cx="2514600" cy="9144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02124"/>
                </a:solidFill>
                <a:latin typeface="Google Sans Flex"/>
              </a:rPr>
              <a:t>Embeddings</a:t>
            </a:r>
          </a:p>
          <a:p>
            <a:pPr algn="ctr"/>
            <a:r>
              <a:rPr sz="900" b="0">
                <a:solidFill>
                  <a:srgbClr val="5F6368"/>
                </a:solidFill>
                <a:latin typeface="Google Sans Flex"/>
              </a:rPr>
              <a:t>gemini-embedding-001, 768 dims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309360" y="3566160"/>
            <a:ext cx="2514600" cy="914400"/>
          </a:xfrm>
          <a:prstGeom prst="roundRect">
            <a:avLst/>
          </a:prstGeom>
          <a:solidFill>
            <a:srgbClr val="F1F3F4"/>
          </a:solidFill>
          <a:ln>
            <a:solidFill>
              <a:srgbClr val="DA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202124"/>
                </a:solidFill>
                <a:latin typeface="Google Sans Flex"/>
              </a:rPr>
              <a:t>Firestore (database canon)</a:t>
            </a:r>
          </a:p>
          <a:p>
            <a:pPr algn="ctr"/>
            <a:r>
              <a:rPr sz="900" b="0">
                <a:solidFill>
                  <a:srgbClr val="5F6368"/>
                </a:solidFill>
                <a:latin typeface="Google Sans Flex"/>
              </a:rPr>
              <a:t>vector search (cosine)</a:t>
            </a:r>
          </a:p>
          <a:p>
            <a:pPr algn="ctr"/>
            <a:r>
              <a:rPr sz="900" b="0">
                <a:solidFill>
                  <a:srgbClr val="5F6368"/>
                </a:solidFill>
                <a:latin typeface="Google Sans Flex"/>
              </a:rPr>
              <a:t>workspace prefilter</a:t>
            </a:r>
          </a:p>
        </p:txBody>
      </p:sp>
      <p:cxnSp>
        <p:nvCxnSpPr>
          <p:cNvPr id="135" name="Connector 134"/>
          <p:cNvCxnSpPr/>
          <p:nvPr/>
        </p:nvCxnSpPr>
        <p:spPr>
          <a:xfrm flipV="1">
            <a:off x="5577840" y="1645920"/>
            <a:ext cx="731520" cy="941832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5577840" y="2587752"/>
            <a:ext cx="731520" cy="246888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5577840" y="2587752"/>
            <a:ext cx="731520" cy="1435608"/>
          </a:xfrm>
          <a:prstGeom prst="line">
            <a:avLst/>
          </a:prstGeom>
          <a:ln w="15875">
            <a:solidFill>
              <a:srgbClr val="5F636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20" name="Table 119"/>
          <p:cNvGraphicFramePr>
            <a:graphicFrameLocks noGrp="1"/>
          </p:cNvGraphicFramePr>
          <p:nvPr/>
        </p:nvGraphicFramePr>
        <p:xfrm>
          <a:off x="320040" y="1188720"/>
          <a:ext cx="8503919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6293"/>
                <a:gridCol w="5697626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oogle Sans Flex"/>
                        </a:rPr>
                        <a:t>Technology</a:t>
                      </a:r>
                    </a:p>
                  </a:txBody>
                  <a:tcPr marT="27432" marB="27432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oogle Sans Flex"/>
                        </a:rPr>
                        <a:t>What Canon uses it for</a:t>
                      </a:r>
                    </a:p>
                  </a:txBody>
                  <a:tcPr marT="27432" marB="27432" anchor="ctr">
                    <a:solidFill>
                      <a:srgbClr val="20212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Gemini 3.5 Flash-Lite on Vertex AI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Extraction, reconciliation, drift checks, answers, briefings, check_intent verdicts; structured output (response_schema)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gemini-embedding-001 (768 dims)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Embeddings for source chunks, decisions and queries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Cloud Firestore, named database canon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Sources, chunks, decisions, alerts, activity, people; vector search with a workspace prefilter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Cloud Run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One scale-to-zero service: FastAPI API, MCP server, A2A agent, GitHub and Discord hooks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Firebase Hosting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Static web app; rewrites /api, /mcp, /a2a to Cloud Run on one origin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Agent Development Kit (ADK) + A2A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Canon as an LlmAgent with four tools, discoverable by agent card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Model Context Protocol (FastMCP)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Six tools over streamable HTTP for Claude Code, Codex and other clients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Python 3.12, FastAPI, uv, pytest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Backend; tests replay recorded Gemini fixtures, no network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React, TypeScript, Vite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Web app: home, decisions, ask, ingest, agents, benchmark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320040" y="1188720"/>
            <a:ext cx="4160520" cy="3703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Idle cost is near zero.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Cloud Run scales to zero (min instances 0). There is no per-hour resource.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Firestore: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the demo data fits inside the free tier so far.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Gemini is paid per call.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An answer is one embedding and one Flash-Lite call. A check is one embedding and one call, or none when no decision is relevant. An ingest is one extraction call plus a few reconcile calls.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Refusals and irrelevant checks never reach Gemini.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The similarity threshold stops them first.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Tracked, not guessed: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every Gemini call and the Cloud Run service carry the label app=canon, so the billing export splits Canon's spend.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709160" y="1188720"/>
            <a:ext cx="4114800" cy="3703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What we measured (2026-10-17):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- The billing export has no app=canon rows yet. It lags by up to a day.</a:t>
            </a:r>
          </a:p>
          <a:p>
            <a:pPr>
              <a:spcAft>
                <a:spcPts val="700"/>
              </a:spcAft>
            </a:pPr>
            <a:r>
              <a:rPr sz="1100" b="0">
                <a:solidFill>
                  <a:srgbClr val="202124"/>
                </a:solidFill>
                <a:latin typeface="Google Sans Flex"/>
              </a:rPr>
              <a:t>- All embedding usage on the shared billing project since 2026-10-12: INR 0.16.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List price (unverified):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third-party listings quote USD 0.30 per 1M input tokens and USD 2.50 per 1M output tokens for Gemini 3.5 Flash-Lite. Check the Vertex AI pricing page before you rely on it.</a:t>
            </a:r>
          </a:p>
          <a:p>
            <a:pPr>
              <a:spcAft>
                <a:spcPts val="700"/>
              </a:spcAft>
            </a:pPr>
            <a:r>
              <a:rPr sz="1100" b="1">
                <a:solidFill>
                  <a:srgbClr val="202124"/>
                </a:solidFill>
                <a:latin typeface="Google Sans Flex"/>
              </a:rPr>
              <a:t>Not measured yet: </a:t>
            </a:r>
            <a:r>
              <a:rPr sz="1100" b="0">
                <a:solidFill>
                  <a:srgbClr val="202124"/>
                </a:solidFill>
                <a:latin typeface="Google Sans Flex"/>
              </a:rPr>
              <a:t>tokens per call, so we do not quote a per-call price.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home-bloc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086" y="1188720"/>
            <a:ext cx="2516428" cy="157276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7" name="TextBox 136"/>
          <p:cNvSpPr txBox="1"/>
          <p:nvPr/>
        </p:nvSpPr>
        <p:spPr>
          <a:xfrm>
            <a:off x="320040" y="2761488"/>
            <a:ext cx="4160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Agent blocked on a Friday deploy</a:t>
            </a:r>
          </a:p>
        </p:txBody>
      </p:sp>
      <p:pic>
        <p:nvPicPr>
          <p:cNvPr id="138" name="Picture 137" descr="ingest-resul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5486" y="1188720"/>
            <a:ext cx="2516428" cy="157276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39" name="TextBox 138"/>
          <p:cNvSpPr txBox="1"/>
          <p:nvPr/>
        </p:nvSpPr>
        <p:spPr>
          <a:xfrm>
            <a:off x="4663440" y="2761488"/>
            <a:ext cx="4160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Paste raises a contradiction</a:t>
            </a:r>
          </a:p>
        </p:txBody>
      </p:sp>
      <p:pic>
        <p:nvPicPr>
          <p:cNvPr id="140" name="Picture 139" descr="ask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086" y="3035808"/>
            <a:ext cx="2516428" cy="157276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1" name="TextBox 140"/>
          <p:cNvSpPr txBox="1"/>
          <p:nvPr/>
        </p:nvSpPr>
        <p:spPr>
          <a:xfrm>
            <a:off x="320040" y="4608576"/>
            <a:ext cx="4160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Ask why: cited answer and timeline</a:t>
            </a:r>
          </a:p>
        </p:txBody>
      </p:sp>
      <p:pic>
        <p:nvPicPr>
          <p:cNvPr id="142" name="Picture 141" descr="agents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5486" y="3035808"/>
            <a:ext cx="2516428" cy="1572768"/>
          </a:xfrm>
          <a:prstGeom prst="rect">
            <a:avLst/>
          </a:prstGeom>
          <a:ln w="9525">
            <a:solidFill>
              <a:srgbClr val="DADCE0"/>
            </a:solidFill>
          </a:ln>
        </p:spPr>
      </p:pic>
      <p:sp>
        <p:nvSpPr>
          <p:cNvPr id="143" name="TextBox 142"/>
          <p:cNvSpPr txBox="1"/>
          <p:nvPr/>
        </p:nvSpPr>
        <p:spPr>
          <a:xfrm>
            <a:off x="4663440" y="4608576"/>
            <a:ext cx="4160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Agent playground over MCP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report / benchmarking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graphicFrame>
        <p:nvGraphicFramePr>
          <p:cNvPr id="144" name="Table 143"/>
          <p:cNvGraphicFramePr>
            <a:graphicFrameLocks noGrp="1"/>
          </p:cNvGraphicFramePr>
          <p:nvPr/>
        </p:nvGraphicFramePr>
        <p:xfrm>
          <a:off x="320040" y="1188720"/>
          <a:ext cx="4754879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2537"/>
                <a:gridCol w="713232"/>
                <a:gridCol w="950976"/>
                <a:gridCol w="618134"/>
              </a:tblGrid>
              <a:tr h="3291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oogle Sans Flex"/>
                        </a:rPr>
                        <a:t>Task (labelled gold set)</a:t>
                      </a:r>
                    </a:p>
                  </a:txBody>
                  <a:tcPr marT="27432" marB="27432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oogle Sans Flex"/>
                        </a:rPr>
                        <a:t>Planted</a:t>
                      </a:r>
                    </a:p>
                  </a:txBody>
                  <a:tcPr marT="27432" marB="27432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oogle Sans Flex"/>
                        </a:rPr>
                        <a:t>Found</a:t>
                      </a:r>
                    </a:p>
                  </a:txBody>
                  <a:tcPr marT="27432" marB="27432" anchor="ctr">
                    <a:solidFill>
                      <a:srgbClr val="2021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Google Sans Flex"/>
                        </a:rPr>
                        <a:t>Score</a:t>
                      </a:r>
                    </a:p>
                  </a:txBody>
                  <a:tcPr marT="27432" marB="27432" anchor="ctr">
                    <a:solidFill>
                      <a:srgbClr val="20212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Decisions extracted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38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37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97%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Contradictions and updates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17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13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76%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False positive alerts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check_intent verdicts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15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13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87%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Unanswerable, refused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100%</a:t>
                      </a:r>
                    </a:p>
                  </a:txBody>
                  <a:tcPr marT="27432" marB="27432" anchor="ctr">
                    <a:solidFill>
                      <a:srgbClr val="F1F3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Latency p50 / p95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>1079 / 1325 ms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Google Sans Flex"/>
                        </a:rPr>
                        <a:t/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5" name="TextBox 144"/>
          <p:cNvSpPr txBox="1"/>
          <p:nvPr/>
        </p:nvSpPr>
        <p:spPr>
          <a:xfrm>
            <a:off x="320040" y="3657600"/>
            <a:ext cx="47548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Run 2026-10-17 12:47 UTC, model gemini-3.5-flash-lite. Corpus: 259 synthetic sources, about 100 of them pure noise.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5F6368"/>
                </a:solidFill>
                <a:latin typeface="Google Sans Flex"/>
              </a:rPr>
              <a:t>Reproduce: backend/scripts/seed.py, then backend/scripts/eval.py. The app serves the report at /api/eval.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303520" y="1188720"/>
            <a:ext cx="3520440" cy="3703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202124"/>
                </a:solidFill>
                <a:latin typeface="Google Sans Flex"/>
              </a:rPr>
              <a:t>Notes and misses, in the open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- stale docs found 7/8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- premise changes found 4/5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- updates found 7/9, contradictions found 6/8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- answerable questions answered 10/10, citing an expected decision 10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- 206 stored quotes, every one verified word for word against its source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- latency over 30 ask and check calls, sequential, client to Vertex AI and Firestore in asia-south1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- check miss check-05: expected allow, got block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- check miss check-09: expected block, got allow</a:t>
            </a:r>
          </a:p>
          <a:p>
            <a:pPr>
              <a:spcAft>
                <a:spcPts val="300"/>
              </a:spcAft>
            </a:pPr>
            <a:r>
              <a:rPr sz="900" b="0">
                <a:solidFill>
                  <a:srgbClr val="202124"/>
                </a:solidFill>
                <a:latin typeface="Google Sans Flex"/>
              </a:rPr>
              <a:t>- live paste samples: relation correct 3/3, ingest p50 2249 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Additional details / 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320040" y="1188720"/>
            <a:ext cx="4160520" cy="3703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202124"/>
                </a:solidFill>
                <a:latin typeface="Google Sans Flex"/>
              </a:rPr>
              <a:t>Where people already talk: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Slack, Microsoft Teams and Discord plug-ins that ingest threads and answer in place. A Discord slash command exists today.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02124"/>
                </a:solidFill>
                <a:latin typeface="Google Sans Flex"/>
              </a:rPr>
              <a:t>Permissions: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sign-in, per-team visibility, and decisions that follow the access rules of their source.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02124"/>
                </a:solidFill>
                <a:latin typeface="Google Sans Flex"/>
              </a:rPr>
              <a:t>Code review at scale: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the GitHub webhook already checks PR text; next, check diffs and post review comments for every repo.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709160" y="1188720"/>
            <a:ext cx="4114800" cy="3703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900"/>
              </a:spcAft>
            </a:pPr>
            <a:r>
              <a:rPr sz="1200" b="1">
                <a:solidFill>
                  <a:srgbClr val="202124"/>
                </a:solidFill>
                <a:latin typeface="Google Sans Flex"/>
              </a:rPr>
              <a:t>Beyond software: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manufacturing SOP drift. A line change or a supplier note that contradicts the approved standard operating procedure raises an alert before a shift runs it.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02124"/>
                </a:solidFill>
                <a:latin typeface="Google Sans Flex"/>
              </a:rPr>
              <a:t>Better recall: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the benchmark shows 4 of 17 contradictions missed; we will tune reconciliation against the gold set.</a:t>
            </a:r>
          </a:p>
          <a:p>
            <a:pPr>
              <a:spcAft>
                <a:spcPts val="900"/>
              </a:spcAft>
            </a:pPr>
            <a:r>
              <a:rPr sz="1200" b="1">
                <a:solidFill>
                  <a:srgbClr val="202124"/>
                </a:solidFill>
                <a:latin typeface="Google Sans Flex"/>
              </a:rPr>
              <a:t>Real data: </a:t>
            </a:r>
            <a:r>
              <a:rPr sz="1200" b="0">
                <a:solidFill>
                  <a:srgbClr val="202124"/>
                </a:solidFill>
                <a:latin typeface="Google Sans Flex"/>
              </a:rPr>
              <a:t>ingest this repository's own README, PRs and commits next to the synthetic corpus.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Links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320040" y="1188720"/>
            <a:ext cx="8503920" cy="3703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202124"/>
                </a:solidFill>
                <a:latin typeface="Google Sans Flex"/>
              </a:rPr>
              <a:t>GitHub public repository: </a:t>
            </a:r>
            <a:r>
              <a:rPr sz="1400" b="0">
                <a:solidFill>
                  <a:srgbClr val="202124"/>
                </a:solidFill>
                <a:latin typeface="Google Sans Flex"/>
              </a:rPr>
              <a:t>https://github.com/tejasnafde/canon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202124"/>
                </a:solidFill>
                <a:latin typeface="Google Sans Flex"/>
              </a:rPr>
              <a:t>Demo video: </a:t>
            </a:r>
            <a:r>
              <a:rPr sz="1400" b="0">
                <a:solidFill>
                  <a:srgbClr val="202124"/>
                </a:solidFill>
                <a:latin typeface="Google Sans Flex"/>
              </a:rPr>
              <a:t>(add the video link)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202124"/>
                </a:solidFill>
                <a:latin typeface="Google Sans Flex"/>
              </a:rPr>
              <a:t>Final product link: </a:t>
            </a:r>
            <a:r>
              <a:rPr sz="1400" b="0">
                <a:solidFill>
                  <a:srgbClr val="202124"/>
                </a:solidFill>
                <a:latin typeface="Google Sans Flex"/>
              </a:rPr>
              <a:t>https://canon-tn07.web.app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202124"/>
                </a:solidFill>
                <a:latin typeface="Google Sans Flex"/>
              </a:rPr>
              <a:t>Cloud Run API: </a:t>
            </a:r>
            <a:r>
              <a:rPr sz="1400" b="0">
                <a:solidFill>
                  <a:srgbClr val="202124"/>
                </a:solidFill>
                <a:latin typeface="Google Sans Flex"/>
              </a:rPr>
              <a:t>https://canon-ezvux7gqxa-el.a.run.app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202124"/>
                </a:solidFill>
                <a:latin typeface="Google Sans Flex"/>
              </a:rPr>
              <a:t>Connect your agent: </a:t>
            </a:r>
            <a:r>
              <a:rPr sz="1400" b="0">
                <a:solidFill>
                  <a:srgbClr val="202124"/>
                </a:solidFill>
                <a:latin typeface="Google Sans Flex"/>
              </a:rPr>
              <a:t>claude mcp add --transport http canon https://canon.tn07.dev/mcp</a:t>
            </a:r>
          </a:p>
          <a:p>
            <a:pPr>
              <a:spcAft>
                <a:spcPts val="1200"/>
              </a:spcAft>
            </a:pPr>
            <a:r>
              <a:rPr sz="1400" b="0">
                <a:solidFill>
                  <a:srgbClr val="202124"/>
                </a:solidFill>
                <a:latin typeface="Google Sans Flex"/>
              </a:rPr>
              <a:t>No login needed. All company data is synthetic and labelled as such.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